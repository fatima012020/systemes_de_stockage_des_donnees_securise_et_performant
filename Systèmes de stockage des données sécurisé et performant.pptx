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4"/>
  </p:notesMasterIdLst>
  <p:handoutMasterIdLst>
    <p:handoutMasterId r:id="rId15"/>
  </p:handoutMasterIdLst>
  <p:sldIdLst>
    <p:sldId id="257" r:id="rId5"/>
    <p:sldId id="268" r:id="rId6"/>
    <p:sldId id="272" r:id="rId7"/>
    <p:sldId id="259" r:id="rId8"/>
    <p:sldId id="261" r:id="rId9"/>
    <p:sldId id="262" r:id="rId10"/>
    <p:sldId id="263" r:id="rId11"/>
    <p:sldId id="271" r:id="rId12"/>
    <p:sldId id="265" r:id="rId13"/>
  </p:sldIdLst>
  <p:sldSz cx="12188825" cy="6858000"/>
  <p:notesSz cx="6858000" cy="9144000"/>
  <p:defaultTextStyle>
    <a:defPPr rtl="0">
      <a:defRPr lang="fr-FR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437" autoAdjust="0"/>
  </p:normalViewPr>
  <p:slideViewPr>
    <p:cSldViewPr>
      <p:cViewPr>
        <p:scale>
          <a:sx n="90" d="100"/>
          <a:sy n="90" d="100"/>
        </p:scale>
        <p:origin x="398" y="53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90" d="100"/>
          <a:sy n="90" d="100"/>
        </p:scale>
        <p:origin x="3774" y="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 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D8AF6929-4F16-43A6-8368-BF93843271D3}" type="datetime1">
              <a:rPr lang="fr-FR" smtClean="0"/>
              <a:t>18/11/2025</a:t>
            </a:fld>
            <a:endParaRPr lang="fr-FR" dirty="0"/>
          </a:p>
        </p:txBody>
      </p:sp>
      <p:sp>
        <p:nvSpPr>
          <p:cNvPr id="4" name="Espace réservé du pied de page 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fr-FR" dirty="0"/>
          </a:p>
        </p:txBody>
      </p:sp>
      <p:sp>
        <p:nvSpPr>
          <p:cNvPr id="5" name="Espace réservé du numéro de diapositive 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79429053-DC2A-4342-ADD4-2FD729D91E2C}" type="slidenum">
              <a:rPr lang="fr-FR" smtClean="0"/>
              <a:pPr algn="r" rtl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 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4D9CF8A1-AC6C-4B34-A6AF-5306B09514F1}" type="datetime1">
              <a:rPr lang="fr-FR" smtClean="0"/>
              <a:pPr/>
              <a:t>18/11/2025</a:t>
            </a:fld>
            <a:endParaRPr lang="fr-FR" dirty="0"/>
          </a:p>
        </p:txBody>
      </p:sp>
      <p:sp>
        <p:nvSpPr>
          <p:cNvPr id="4" name="Espace réservé d’image de diapositive 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dirty="0"/>
          </a:p>
        </p:txBody>
      </p:sp>
      <p:sp>
        <p:nvSpPr>
          <p:cNvPr id="5" name="Espace réservé des notes 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dirty="0" smtClean="0"/>
              <a:t>Modifiez les styles du texte du masque</a:t>
            </a:r>
          </a:p>
          <a:p>
            <a:pPr lvl="1" rtl="0"/>
            <a:r>
              <a:rPr lang="fr-FR" dirty="0" smtClean="0"/>
              <a:t>Deuxième niveau</a:t>
            </a:r>
          </a:p>
          <a:p>
            <a:pPr lvl="2" rtl="0"/>
            <a:r>
              <a:rPr lang="fr-FR" dirty="0" smtClean="0"/>
              <a:t>Troisième niveau</a:t>
            </a:r>
          </a:p>
          <a:p>
            <a:pPr lvl="3" rtl="0"/>
            <a:r>
              <a:rPr lang="fr-FR" dirty="0" smtClean="0"/>
              <a:t>Quatrième niveau</a:t>
            </a:r>
          </a:p>
          <a:p>
            <a:pPr lvl="4" rtl="0"/>
            <a:r>
              <a:rPr lang="fr-FR" dirty="0" smtClean="0"/>
              <a:t>Cinquième niveau</a:t>
            </a:r>
            <a:endParaRPr lang="fr-FR" dirty="0"/>
          </a:p>
        </p:txBody>
      </p:sp>
      <p:sp>
        <p:nvSpPr>
          <p:cNvPr id="6" name="Espace réservé du pied de page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fr-FR" dirty="0"/>
          </a:p>
        </p:txBody>
      </p:sp>
      <p:sp>
        <p:nvSpPr>
          <p:cNvPr id="7" name="Espace réservé du numéro de diapositive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/>
            <a:fld id="{3EBA5BD7-F043-4D1B-AA17-CD412FC534DE}" type="slidenum">
              <a:rPr lang="fr-FR" smtClean="0"/>
              <a:pPr algn="r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fr-FR" smtClean="0"/>
              <a:pPr algn="r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628626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fr-FR" smtClean="0"/>
              <a:pPr algn="r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27575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fr-FR" smtClean="0"/>
              <a:pPr algn="r"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977032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fr-FR" smtClean="0"/>
              <a:pPr algn="r"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693412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fr-FR" smtClean="0"/>
              <a:pPr algn="r"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364805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fr-FR" smtClean="0"/>
              <a:pPr algn="r"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260426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fr-FR" smtClean="0"/>
              <a:pPr algn="r"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11192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fr-FR" smtClean="0"/>
              <a:pPr algn="r"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191192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fr-FR" smtClean="0"/>
              <a:pPr algn="r"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63363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e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Connecteur droit 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Connecteur droit 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Connecteur droit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lignes inférieur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orme libre 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fr-FR" dirty="0"/>
            </a:p>
          </p:txBody>
        </p:sp>
        <p:sp>
          <p:nvSpPr>
            <p:cNvPr id="10" name="Forme libre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fr-FR" dirty="0"/>
            </a:p>
          </p:txBody>
        </p:sp>
        <p:sp>
          <p:nvSpPr>
            <p:cNvPr id="11" name="Forme libre 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fr-FR" dirty="0"/>
            </a:p>
          </p:txBody>
        </p:sp>
      </p:grpSp>
      <p:sp>
        <p:nvSpPr>
          <p:cNvPr id="2" name="Titre 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 rtlCol="0">
            <a:normAutofit/>
          </a:bodyPr>
          <a:lstStyle>
            <a:lvl1pPr algn="l" rtl="0">
              <a:defRPr sz="5400"/>
            </a:lvl1pPr>
          </a:lstStyle>
          <a:p>
            <a:pPr rtl="0"/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fr-FR" smtClean="0"/>
              <a:t>Modifiez le style des sous-titres du masque</a:t>
            </a:r>
            <a:endParaRPr lang="fr-FR" dirty="0"/>
          </a:p>
        </p:txBody>
      </p:sp>
      <p:sp>
        <p:nvSpPr>
          <p:cNvPr id="22" name="Espace réservé de la date 2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3E36D263-5C89-4D5D-8B05-0120FB33B4BA}" type="datetime1">
              <a:rPr lang="fr-FR" smtClean="0"/>
              <a:pPr/>
              <a:t>18/11/2025</a:t>
            </a:fld>
            <a:endParaRPr lang="fr-FR" dirty="0"/>
          </a:p>
        </p:txBody>
      </p:sp>
      <p:sp>
        <p:nvSpPr>
          <p:cNvPr id="23" name="Espace réservé du pied de page 2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24" name="Espace réservé du numéro de diapositive 2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fr-FR" smtClean="0"/>
              <a:pPr algn="r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3" name="Espace réservé du contenu 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fr-FR" smtClean="0"/>
              <a:t>Modifiez les styles du texte du masque</a:t>
            </a:r>
          </a:p>
          <a:p>
            <a:pPr lvl="1" rtl="0"/>
            <a:r>
              <a:rPr lang="fr-FR" smtClean="0"/>
              <a:t>Deuxième niveau</a:t>
            </a:r>
          </a:p>
          <a:p>
            <a:pPr lvl="2" rtl="0"/>
            <a:r>
              <a:rPr lang="fr-FR" smtClean="0"/>
              <a:t>Troisième niveau</a:t>
            </a:r>
          </a:p>
          <a:p>
            <a:pPr lvl="3" rtl="0"/>
            <a:r>
              <a:rPr lang="fr-FR" smtClean="0"/>
              <a:t>Quatrième niveau</a:t>
            </a:r>
          </a:p>
          <a:p>
            <a:pPr lvl="4" rtl="0"/>
            <a:r>
              <a:rPr lang="fr-FR" smtClean="0"/>
              <a:t>Cinquième niveau</a:t>
            </a:r>
            <a:endParaRPr lang="fr-FR" dirty="0"/>
          </a:p>
        </p:txBody>
      </p:sp>
      <p:sp>
        <p:nvSpPr>
          <p:cNvPr id="4" name="Espace réservé de la date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E2899D0D-1C7F-4044-B286-354B51780DED}" type="datetime1">
              <a:rPr lang="fr-FR" smtClean="0"/>
              <a:pPr/>
              <a:t>18/11/2025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fr-FR" smtClean="0"/>
              <a:pPr algn="r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e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Connecteur droit 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Connecteur droit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Connecteur droit 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re 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rtlCol="0" anchor="b">
            <a:normAutofit/>
          </a:bodyPr>
          <a:lstStyle>
            <a:lvl1pPr algn="l" rtl="0">
              <a:defRPr sz="5400" b="0" cap="none" baseline="0"/>
            </a:lvl1pPr>
          </a:lstStyle>
          <a:p>
            <a:pPr rtl="0"/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rtlCol="0" anchor="t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l" rtl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BEFD5C92-4BB1-4FBC-932D-AE246A545D97}" type="datetime1">
              <a:rPr lang="fr-FR" smtClean="0"/>
              <a:pPr/>
              <a:t>18/11/2025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fr-FR" smtClean="0"/>
              <a:pPr algn="r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fr-FR" smtClean="0"/>
              <a:t>Modifiez les styles du texte du masque</a:t>
            </a:r>
          </a:p>
          <a:p>
            <a:pPr lvl="1" rtl="0"/>
            <a:r>
              <a:rPr lang="fr-FR" smtClean="0"/>
              <a:t>Deuxième niveau</a:t>
            </a:r>
          </a:p>
          <a:p>
            <a:pPr lvl="2" rtl="0"/>
            <a:r>
              <a:rPr lang="fr-FR" smtClean="0"/>
              <a:t>Troisième niveau</a:t>
            </a:r>
          </a:p>
          <a:p>
            <a:pPr lvl="3" rtl="0"/>
            <a:r>
              <a:rPr lang="fr-FR" smtClean="0"/>
              <a:t>Quatrième niveau</a:t>
            </a:r>
          </a:p>
          <a:p>
            <a:pPr lvl="4" rtl="0"/>
            <a:r>
              <a:rPr lang="fr-FR" smtClean="0"/>
              <a:t>Cinquième niveau</a:t>
            </a:r>
            <a:endParaRPr lang="fr-FR" dirty="0"/>
          </a:p>
        </p:txBody>
      </p:sp>
      <p:sp>
        <p:nvSpPr>
          <p:cNvPr id="4" name="Espace réservé du contenu 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/>
            </a:lvl8pPr>
            <a:lvl9pPr algn="l" rtl="0">
              <a:defRPr sz="2000"/>
            </a:lvl9pPr>
          </a:lstStyle>
          <a:p>
            <a:pPr lvl="0" rtl="0"/>
            <a:r>
              <a:rPr lang="fr-FR" smtClean="0"/>
              <a:t>Modifiez les styles du texte du masque</a:t>
            </a:r>
          </a:p>
          <a:p>
            <a:pPr lvl="1" rtl="0"/>
            <a:r>
              <a:rPr lang="fr-FR" smtClean="0"/>
              <a:t>Deuxième niveau</a:t>
            </a:r>
          </a:p>
          <a:p>
            <a:pPr lvl="2" rtl="0"/>
            <a:r>
              <a:rPr lang="fr-FR" smtClean="0"/>
              <a:t>Troisième niveau</a:t>
            </a:r>
          </a:p>
          <a:p>
            <a:pPr lvl="3" rtl="0"/>
            <a:r>
              <a:rPr lang="fr-FR" smtClean="0"/>
              <a:t>Quatrième niveau</a:t>
            </a:r>
          </a:p>
          <a:p>
            <a:pPr lvl="4" rtl="0"/>
            <a:r>
              <a:rPr lang="fr-FR" smtClean="0"/>
              <a:t>Cinquième niveau</a:t>
            </a:r>
            <a:endParaRPr lang="fr-FR" dirty="0"/>
          </a:p>
        </p:txBody>
      </p:sp>
      <p:sp>
        <p:nvSpPr>
          <p:cNvPr id="5" name="Espace réservé de la date 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6B22FCC3-3DC7-4160-A3CE-82200479EFA7}" type="datetime1">
              <a:rPr lang="fr-FR" smtClean="0"/>
              <a:pPr/>
              <a:t>18/11/2025</a:t>
            </a:fld>
            <a:endParaRPr lang="fr-FR" dirty="0"/>
          </a:p>
        </p:txBody>
      </p:sp>
      <p:sp>
        <p:nvSpPr>
          <p:cNvPr id="6" name="Espace réservé du pied de page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7" name="Espace réservé du numéro de diapositive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fr-FR" smtClean="0"/>
              <a:pPr algn="r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l" rtl="0">
              <a:defRPr/>
            </a:lvl1pPr>
          </a:lstStyle>
          <a:p>
            <a:pPr rtl="0"/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fr-FR" smtClean="0"/>
              <a:t>Modifiez les styles du texte du masque</a:t>
            </a:r>
          </a:p>
          <a:p>
            <a:pPr lvl="1" rtl="0"/>
            <a:r>
              <a:rPr lang="fr-FR" smtClean="0"/>
              <a:t>Deuxième niveau</a:t>
            </a:r>
          </a:p>
          <a:p>
            <a:pPr lvl="2" rtl="0"/>
            <a:r>
              <a:rPr lang="fr-FR" smtClean="0"/>
              <a:t>Troisième niveau</a:t>
            </a:r>
          </a:p>
          <a:p>
            <a:pPr lvl="3" rtl="0"/>
            <a:r>
              <a:rPr lang="fr-FR" smtClean="0"/>
              <a:t>Quatrième niveau</a:t>
            </a:r>
          </a:p>
          <a:p>
            <a:pPr lvl="4" rtl="0"/>
            <a:r>
              <a:rPr lang="fr-FR" smtClean="0"/>
              <a:t>Cinquième niveau</a:t>
            </a:r>
            <a:endParaRPr lang="fr-FR" dirty="0"/>
          </a:p>
        </p:txBody>
      </p:sp>
      <p:sp>
        <p:nvSpPr>
          <p:cNvPr id="5" name="Espace réservé du texte 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 baseline="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fr-FR" smtClean="0"/>
              <a:t>Modifiez les styles du texte du masque</a:t>
            </a:r>
          </a:p>
          <a:p>
            <a:pPr lvl="1" rtl="0"/>
            <a:r>
              <a:rPr lang="fr-FR" smtClean="0"/>
              <a:t>Deuxième niveau</a:t>
            </a:r>
          </a:p>
          <a:p>
            <a:pPr lvl="2" rtl="0"/>
            <a:r>
              <a:rPr lang="fr-FR" smtClean="0"/>
              <a:t>Troisième niveau</a:t>
            </a:r>
          </a:p>
          <a:p>
            <a:pPr lvl="3" rtl="0"/>
            <a:r>
              <a:rPr lang="fr-FR" smtClean="0"/>
              <a:t>Quatrième niveau</a:t>
            </a:r>
          </a:p>
          <a:p>
            <a:pPr lvl="4" rtl="0"/>
            <a:r>
              <a:rPr lang="fr-FR" smtClean="0"/>
              <a:t>Cinquième niveau</a:t>
            </a:r>
            <a:endParaRPr lang="fr-FR" dirty="0"/>
          </a:p>
        </p:txBody>
      </p:sp>
      <p:sp>
        <p:nvSpPr>
          <p:cNvPr id="7" name="Espace réservé de la date 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17AB33AB-93D8-496F-A7A3-D08F359C34C7}" type="datetime1">
              <a:rPr lang="fr-FR" smtClean="0"/>
              <a:pPr/>
              <a:t>18/11/2025</a:t>
            </a:fld>
            <a:endParaRPr lang="fr-FR" dirty="0"/>
          </a:p>
        </p:txBody>
      </p:sp>
      <p:sp>
        <p:nvSpPr>
          <p:cNvPr id="8" name="Espace réservé du pied de page 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fr-FR" smtClean="0"/>
              <a:pPr algn="r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3" name="Espace réservé de la date 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5B80ABE1-D260-4843-B80F-7D5268AEEE07}" type="datetime1">
              <a:rPr lang="fr-FR" smtClean="0"/>
              <a:pPr/>
              <a:t>18/11/2025</a:t>
            </a:fld>
            <a:endParaRPr lang="fr-FR" dirty="0"/>
          </a:p>
        </p:txBody>
      </p:sp>
      <p:sp>
        <p:nvSpPr>
          <p:cNvPr id="4" name="Espace réservé du pied de page 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5" name="Espace réservé du numéro de diapositive 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fr-FR" smtClean="0"/>
              <a:pPr algn="r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 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88B7253B-1B29-4A13-B3F4-5ABF9F84795C}" type="datetime1">
              <a:rPr lang="fr-FR" smtClean="0"/>
              <a:pPr/>
              <a:t>18/11/2025</a:t>
            </a:fld>
            <a:endParaRPr lang="fr-FR" dirty="0"/>
          </a:p>
        </p:txBody>
      </p:sp>
      <p:sp>
        <p:nvSpPr>
          <p:cNvPr id="3" name="Espace réservé du pied de page 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fr-FR" smtClean="0"/>
              <a:pPr algn="r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4" name="Espace réservé du texte 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fr-FR" smtClean="0"/>
              <a:t>Modifiez les styles du texte du masque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fr-FR" smtClean="0"/>
              <a:t>Modifiez les styles du texte du masque</a:t>
            </a:r>
          </a:p>
          <a:p>
            <a:pPr lvl="1" rtl="0"/>
            <a:r>
              <a:rPr lang="fr-FR" smtClean="0"/>
              <a:t>Deuxième niveau</a:t>
            </a:r>
          </a:p>
          <a:p>
            <a:pPr lvl="2" rtl="0"/>
            <a:r>
              <a:rPr lang="fr-FR" smtClean="0"/>
              <a:t>Troisième niveau</a:t>
            </a:r>
          </a:p>
          <a:p>
            <a:pPr lvl="3" rtl="0"/>
            <a:r>
              <a:rPr lang="fr-FR" smtClean="0"/>
              <a:t>Quatrième niveau</a:t>
            </a:r>
          </a:p>
          <a:p>
            <a:pPr lvl="4" rtl="0"/>
            <a:r>
              <a:rPr lang="fr-FR" smtClean="0"/>
              <a:t>Cinquième niveau</a:t>
            </a:r>
            <a:endParaRPr lang="fr-FR" dirty="0"/>
          </a:p>
        </p:txBody>
      </p:sp>
      <p:sp>
        <p:nvSpPr>
          <p:cNvPr id="5" name="Espace réservé de la date 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3FF95AA5-BF1E-4EB9-A1D5-0AB2DD60A2D9}" type="datetime1">
              <a:rPr lang="fr-FR" smtClean="0"/>
              <a:pPr/>
              <a:t>18/11/2025</a:t>
            </a:fld>
            <a:endParaRPr lang="fr-FR" dirty="0"/>
          </a:p>
        </p:txBody>
      </p:sp>
      <p:sp>
        <p:nvSpPr>
          <p:cNvPr id="6" name="Espace réservé du pied de page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7" name="Espace réservé du numéro de diapositive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fr-FR" smtClean="0"/>
              <a:pPr algn="r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 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4" name="Espace réservé du texte 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fr-FR" smtClean="0"/>
              <a:t>Modifiez les styles du texte du masque</a:t>
            </a:r>
          </a:p>
        </p:txBody>
      </p:sp>
      <p:sp>
        <p:nvSpPr>
          <p:cNvPr id="3" name="Espace réservé d’image 2" descr="Espace réservé vide pour ajouter une image. Cliquez sur l’espace réservé et sélectionnez l’image à ajouter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 rtlCol="0">
            <a:normAutofit/>
          </a:bodyPr>
          <a:lstStyle>
            <a:lvl1pPr marL="0" indent="0" algn="l" rtl="0">
              <a:buNone/>
              <a:defRPr sz="2800"/>
            </a:lvl1pPr>
            <a:lvl2pPr marL="609493" indent="0" algn="l" rtl="0">
              <a:buNone/>
              <a:defRPr sz="3700"/>
            </a:lvl2pPr>
            <a:lvl3pPr marL="1218987" indent="0" algn="l" rtl="0">
              <a:buNone/>
              <a:defRPr sz="3200"/>
            </a:lvl3pPr>
            <a:lvl4pPr marL="1828480" indent="0" algn="l" rtl="0">
              <a:buNone/>
              <a:defRPr sz="2700"/>
            </a:lvl4pPr>
            <a:lvl5pPr marL="2437973" indent="0" algn="l" rtl="0">
              <a:buNone/>
              <a:defRPr sz="2700"/>
            </a:lvl5pPr>
            <a:lvl6pPr marL="3047467" indent="0" algn="l" rtl="0">
              <a:buNone/>
              <a:defRPr sz="2700"/>
            </a:lvl6pPr>
            <a:lvl7pPr marL="3656960" indent="0" algn="l" rtl="0">
              <a:buNone/>
              <a:defRPr sz="2700"/>
            </a:lvl7pPr>
            <a:lvl8pPr marL="4266453" indent="0" algn="l" rtl="0">
              <a:buNone/>
              <a:defRPr sz="2700"/>
            </a:lvl8pPr>
            <a:lvl9pPr marL="4875947" indent="0" algn="l" rtl="0">
              <a:buNone/>
              <a:defRPr sz="2700"/>
            </a:lvl9pPr>
          </a:lstStyle>
          <a:p>
            <a:pPr rtl="0"/>
            <a:r>
              <a:rPr lang="fr-FR" smtClean="0"/>
              <a:t>Cliquez sur l'icône pour ajouter une image</a:t>
            </a:r>
            <a:endParaRPr lang="fr-FR" dirty="0"/>
          </a:p>
        </p:txBody>
      </p:sp>
      <p:sp>
        <p:nvSpPr>
          <p:cNvPr id="5" name="Espace réservé de la date 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6F7BC923-82FA-41E3-BF4E-E946B22CD3AC}" type="datetime1">
              <a:rPr lang="fr-FR" smtClean="0"/>
              <a:pPr/>
              <a:t>18/11/2025</a:t>
            </a:fld>
            <a:endParaRPr lang="fr-FR" dirty="0"/>
          </a:p>
        </p:txBody>
      </p:sp>
      <p:sp>
        <p:nvSpPr>
          <p:cNvPr id="6" name="Espace réservé du pied de page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7" name="Espace réservé du numéro de diapositive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fr-FR" smtClean="0"/>
              <a:pPr algn="r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3" name="Espace réservé du texte vertical 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 baseline="0"/>
            </a:lvl8pPr>
            <a:lvl9pPr algn="l" rtl="0">
              <a:defRPr baseline="0"/>
            </a:lvl9pPr>
          </a:lstStyle>
          <a:p>
            <a:pPr lvl="0" rtl="0"/>
            <a:r>
              <a:rPr lang="fr-FR" smtClean="0"/>
              <a:t>Modifiez les styles du texte du masque</a:t>
            </a:r>
          </a:p>
          <a:p>
            <a:pPr lvl="1" rtl="0"/>
            <a:r>
              <a:rPr lang="fr-FR" smtClean="0"/>
              <a:t>Deuxième niveau</a:t>
            </a:r>
          </a:p>
          <a:p>
            <a:pPr lvl="2" rtl="0"/>
            <a:r>
              <a:rPr lang="fr-FR" smtClean="0"/>
              <a:t>Troisième niveau</a:t>
            </a:r>
          </a:p>
          <a:p>
            <a:pPr lvl="3" rtl="0"/>
            <a:r>
              <a:rPr lang="fr-FR" smtClean="0"/>
              <a:t>Quatrième niveau</a:t>
            </a:r>
          </a:p>
          <a:p>
            <a:pPr lvl="4" rtl="0"/>
            <a:r>
              <a:rPr lang="fr-FR" smtClean="0"/>
              <a:t>Cinquième niveau</a:t>
            </a:r>
            <a:endParaRPr lang="fr-FR" dirty="0"/>
          </a:p>
        </p:txBody>
      </p:sp>
      <p:sp>
        <p:nvSpPr>
          <p:cNvPr id="4" name="Espace réservé de la date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8A1D2FCC-4233-4F14-8EDB-8DB44C2A50E0}" type="datetime1">
              <a:rPr lang="fr-FR" smtClean="0"/>
              <a:pPr/>
              <a:t>18/11/2025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fr-FR" smtClean="0"/>
              <a:pPr algn="r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 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 rtlCol="0"/>
          <a:lstStyle/>
          <a:p>
            <a:pPr rtl="0"/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3" name="Espace réservé du texte vertical 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fr-FR" smtClean="0"/>
              <a:t>Modifiez les styles du texte du masque</a:t>
            </a:r>
          </a:p>
          <a:p>
            <a:pPr lvl="1" rtl="0"/>
            <a:r>
              <a:rPr lang="fr-FR" smtClean="0"/>
              <a:t>Deuxième niveau</a:t>
            </a:r>
          </a:p>
          <a:p>
            <a:pPr lvl="2" rtl="0"/>
            <a:r>
              <a:rPr lang="fr-FR" smtClean="0"/>
              <a:t>Troisième niveau</a:t>
            </a:r>
          </a:p>
          <a:p>
            <a:pPr lvl="3" rtl="0"/>
            <a:r>
              <a:rPr lang="fr-FR" smtClean="0"/>
              <a:t>Quatrième niveau</a:t>
            </a:r>
          </a:p>
          <a:p>
            <a:pPr lvl="4" rtl="0"/>
            <a:r>
              <a:rPr lang="fr-FR" smtClean="0"/>
              <a:t>Cinquième niveau</a:t>
            </a:r>
            <a:endParaRPr lang="fr-FR" dirty="0"/>
          </a:p>
        </p:txBody>
      </p:sp>
      <p:sp>
        <p:nvSpPr>
          <p:cNvPr id="4" name="Espace réservé de la date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63F31CA-359D-41CC-AD54-062A6FB97288}" type="datetime1">
              <a:rPr lang="fr-FR" smtClean="0"/>
              <a:pPr/>
              <a:t>18/11/2025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fr-FR" smtClean="0"/>
              <a:pPr algn="r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ignes de gauche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orme libre 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dirty="0"/>
            </a:p>
          </p:txBody>
        </p:sp>
        <p:sp>
          <p:nvSpPr>
            <p:cNvPr id="11" name="Forme libre 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dirty="0"/>
            </a:p>
          </p:txBody>
        </p:sp>
        <p:sp>
          <p:nvSpPr>
            <p:cNvPr id="14" name="Forme libre 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dirty="0"/>
            </a:p>
          </p:txBody>
        </p:sp>
      </p:grpSp>
      <p:sp>
        <p:nvSpPr>
          <p:cNvPr id="2" name="Espace réservé du titre 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pPr rtl="0"/>
            <a:r>
              <a:rPr lang="fr-FR" dirty="0" smtClean="0"/>
              <a:t>Modifiez le style du titre</a:t>
            </a:r>
            <a:endParaRPr lang="fr-FR" dirty="0"/>
          </a:p>
        </p:txBody>
      </p:sp>
      <p:sp>
        <p:nvSpPr>
          <p:cNvPr id="3" name="Espace réservé du texte 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 rtl="0"/>
            <a:r>
              <a:rPr lang="fr-FR" dirty="0" smtClean="0"/>
              <a:t>Modifiez les styles du texte du masque</a:t>
            </a:r>
          </a:p>
          <a:p>
            <a:pPr lvl="1" rtl="0"/>
            <a:r>
              <a:rPr lang="fr-FR" dirty="0" smtClean="0"/>
              <a:t>Deuxième niveau</a:t>
            </a:r>
          </a:p>
          <a:p>
            <a:pPr lvl="2" rtl="0"/>
            <a:r>
              <a:rPr lang="fr-FR" dirty="0" smtClean="0"/>
              <a:t>Troisième niveau</a:t>
            </a:r>
          </a:p>
          <a:p>
            <a:pPr lvl="3" rtl="0"/>
            <a:r>
              <a:rPr lang="fr-FR" dirty="0" smtClean="0"/>
              <a:t>Quatrième niveau</a:t>
            </a:r>
          </a:p>
          <a:p>
            <a:pPr lvl="4" rtl="0"/>
            <a:r>
              <a:rPr lang="fr-FR" dirty="0" smtClean="0"/>
              <a:t>Cinquième niveau</a:t>
            </a:r>
            <a:endParaRPr lang="fr-FR" dirty="0"/>
          </a:p>
        </p:txBody>
      </p:sp>
      <p:sp>
        <p:nvSpPr>
          <p:cNvPr id="4" name="Espace réservé de la date 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A97F8E-A89E-4ECD-B8CE-87968877804C}" type="datetime1">
              <a:rPr lang="fr-FR" smtClean="0"/>
              <a:pPr/>
              <a:t>18/11/2025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fld id="{C014DD1E-5D91-48A3-AD6D-45FBA980D106}" type="slidenum">
              <a:rPr lang="fr-FR" smtClean="0"/>
              <a:pPr algn="r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57908" y="1257507"/>
            <a:ext cx="9653812" cy="2556768"/>
          </a:xfrm>
        </p:spPr>
        <p:txBody>
          <a:bodyPr rtlCol="0">
            <a:noAutofit/>
          </a:bodyPr>
          <a:lstStyle/>
          <a:p>
            <a:r>
              <a:rPr lang="fr-FR" sz="4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Systèmes </a:t>
            </a:r>
            <a:r>
              <a:rPr lang="fr-FR" sz="4800" b="1" dirty="0">
                <a:latin typeface="Arial" panose="020B0604020202020204" pitchFamily="34" charset="0"/>
                <a:cs typeface="Arial" panose="020B0604020202020204" pitchFamily="34" charset="0"/>
              </a:rPr>
              <a:t>de stockage des données sécurisé et performant</a:t>
            </a:r>
            <a:r>
              <a:rPr lang="fr-FR" sz="48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fr-FR" sz="4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4800" b="1" dirty="0">
                <a:latin typeface="Arial" panose="020B0604020202020204" pitchFamily="34" charset="0"/>
                <a:cs typeface="Arial" panose="020B0604020202020204" pitchFamily="34" charset="0"/>
              </a:rPr>
              <a:t>Migration et sécurisation d’une base de données </a:t>
            </a:r>
            <a:r>
              <a:rPr lang="fr-FR" sz="4800" b="1" dirty="0" err="1">
                <a:latin typeface="Arial" panose="020B0604020202020204" pitchFamily="34" charset="0"/>
                <a:cs typeface="Arial" panose="020B0604020202020204" pitchFamily="34" charset="0"/>
              </a:rPr>
              <a:t>MongoDB</a:t>
            </a:r>
            <a:r>
              <a:rPr lang="fr-FR" sz="4800" b="1" dirty="0">
                <a:latin typeface="Arial" panose="020B0604020202020204" pitchFamily="34" charset="0"/>
                <a:cs typeface="Arial" panose="020B0604020202020204" pitchFamily="34" charset="0"/>
              </a:rPr>
              <a:t> via Docker</a:t>
            </a:r>
            <a:endParaRPr lang="fr-FR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ous-titre 4"/>
          <p:cNvSpPr>
            <a:spLocks noGrp="1"/>
          </p:cNvSpPr>
          <p:nvPr>
            <p:ph type="subTitle" idx="1"/>
          </p:nvPr>
        </p:nvSpPr>
        <p:spPr>
          <a:xfrm>
            <a:off x="1566771" y="4797152"/>
            <a:ext cx="8735325" cy="1752600"/>
          </a:xfrm>
        </p:spPr>
        <p:txBody>
          <a:bodyPr rtlCol="0"/>
          <a:lstStyle/>
          <a:p>
            <a:pPr algn="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THIAM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Fatou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re 12"/>
          <p:cNvSpPr>
            <a:spLocks noGrp="1"/>
          </p:cNvSpPr>
          <p:nvPr>
            <p:ph type="title"/>
          </p:nvPr>
        </p:nvSpPr>
        <p:spPr>
          <a:xfrm>
            <a:off x="1125860" y="44624"/>
            <a:ext cx="10360501" cy="1223963"/>
          </a:xfrm>
        </p:spPr>
        <p:txBody>
          <a:bodyPr rtlCol="0">
            <a:normAutofit/>
          </a:bodyPr>
          <a:lstStyle/>
          <a:p>
            <a:pPr algn="ctr"/>
            <a:r>
              <a:rPr lang="fr-FR" sz="4800" dirty="0">
                <a:latin typeface="Arial" panose="020B0604020202020204" pitchFamily="34" charset="0"/>
                <a:cs typeface="Arial" panose="020B0604020202020204" pitchFamily="34" charset="0"/>
              </a:rPr>
              <a:t>Contexte de la mission</a:t>
            </a:r>
            <a:endParaRPr lang="fr-FR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Espace réservé du contenu 13"/>
          <p:cNvSpPr>
            <a:spLocks noGrp="1"/>
          </p:cNvSpPr>
          <p:nvPr>
            <p:ph idx="1"/>
          </p:nvPr>
        </p:nvSpPr>
        <p:spPr>
          <a:xfrm>
            <a:off x="1218883" y="1701796"/>
            <a:ext cx="10420145" cy="4895555"/>
          </a:xfrm>
        </p:spPr>
        <p:txBody>
          <a:bodyPr rtlCol="0">
            <a:noAutofit/>
          </a:bodyPr>
          <a:lstStyle/>
          <a:p>
            <a:pPr marL="0" indent="0">
              <a:buNone/>
            </a:pPr>
            <a:r>
              <a:rPr lang="fr-FR" sz="14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🎯 Objectif global</a:t>
            </a:r>
          </a:p>
          <a:p>
            <a:r>
              <a:rPr lang="fr-FR" sz="14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Concevoir une solution permettant de :</a:t>
            </a:r>
          </a:p>
          <a:p>
            <a:r>
              <a:rPr lang="fr-FR" sz="14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Migrer un </a:t>
            </a:r>
            <a:r>
              <a:rPr lang="fr-FR" sz="1400" dirty="0" err="1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dataset</a:t>
            </a:r>
            <a:r>
              <a:rPr lang="fr-FR" sz="14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médical brut (CSV) vers </a:t>
            </a:r>
            <a:r>
              <a:rPr lang="fr-FR" sz="1400" dirty="0" err="1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MongoDB</a:t>
            </a:r>
            <a:endParaRPr lang="fr-FR" sz="1400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r>
              <a:rPr lang="fr-FR" sz="14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Automatiser tout le processus grâce à Docker</a:t>
            </a:r>
          </a:p>
          <a:p>
            <a:r>
              <a:rPr lang="fr-FR" sz="14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Garantir la fiabilité, la sécurité et la reproductibilité</a:t>
            </a:r>
          </a:p>
          <a:p>
            <a:r>
              <a:rPr lang="fr-FR" sz="14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Valider la donnée avant ingestion</a:t>
            </a:r>
          </a:p>
          <a:p>
            <a:r>
              <a:rPr lang="fr-FR" sz="14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Fournir un environnement professionnel adapté à la production</a:t>
            </a:r>
          </a:p>
          <a:p>
            <a:pPr marL="0" indent="0">
              <a:buNone/>
            </a:pPr>
            <a:r>
              <a:rPr lang="fr-FR" sz="14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🔍 Enjeux</a:t>
            </a:r>
          </a:p>
          <a:p>
            <a:r>
              <a:rPr lang="fr-FR" sz="14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Données sensibles → sécurité obligatoire</a:t>
            </a:r>
          </a:p>
          <a:p>
            <a:r>
              <a:rPr lang="fr-FR" sz="14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Respect des bonnes pratiques Data Engineering</a:t>
            </a:r>
          </a:p>
          <a:p>
            <a:r>
              <a:rPr lang="fr-FR" sz="14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Continuité (volumes Docker) et validation préalable</a:t>
            </a:r>
          </a:p>
          <a:p>
            <a:r>
              <a:rPr lang="fr-FR" sz="14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Documentation et tests unitaires pour garantir la qualité</a:t>
            </a:r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re 12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algn="ctr"/>
            <a:r>
              <a:rPr lang="fr-FR" sz="4800" dirty="0">
                <a:latin typeface="Arial" panose="020B0604020202020204" pitchFamily="34" charset="0"/>
                <a:cs typeface="Arial" panose="020B0604020202020204" pitchFamily="34" charset="0"/>
              </a:rPr>
              <a:t>Architecture globale</a:t>
            </a:r>
            <a:endParaRPr lang="fr-FR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Espace réservé du contenu 1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4012" y="1628800"/>
            <a:ext cx="6912768" cy="5040560"/>
          </a:xfrm>
        </p:spPr>
      </p:pic>
    </p:spTree>
    <p:extLst>
      <p:ext uri="{BB962C8B-B14F-4D97-AF65-F5344CB8AC3E}">
        <p14:creationId xmlns:p14="http://schemas.microsoft.com/office/powerpoint/2010/main" val="2257358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1125860" y="116633"/>
            <a:ext cx="10585175" cy="1296143"/>
          </a:xfrm>
        </p:spPr>
        <p:txBody>
          <a:bodyPr rtlCol="0">
            <a:normAutofit/>
          </a:bodyPr>
          <a:lstStyle/>
          <a:p>
            <a:pPr algn="ctr"/>
            <a:r>
              <a:rPr lang="fr-FR" sz="4800" dirty="0">
                <a:latin typeface="Arial" panose="020B0604020202020204" pitchFamily="34" charset="0"/>
                <a:cs typeface="Arial" panose="020B0604020202020204" pitchFamily="34" charset="0"/>
              </a:rPr>
              <a:t>Déroulement technique (workflow)</a:t>
            </a:r>
            <a:endParaRPr lang="fr-FR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176" y="1556793"/>
            <a:ext cx="7925620" cy="4813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977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algn="ctr"/>
            <a:r>
              <a:rPr lang="fr-FR" sz="4800" dirty="0">
                <a:latin typeface="Arial" panose="020B0604020202020204" pitchFamily="34" charset="0"/>
                <a:cs typeface="Arial" panose="020B0604020202020204" pitchFamily="34" charset="0"/>
              </a:rPr>
              <a:t>Sécurité : authentification </a:t>
            </a:r>
            <a:r>
              <a:rPr lang="fr-FR" sz="4800" dirty="0" err="1">
                <a:latin typeface="Arial" panose="020B0604020202020204" pitchFamily="34" charset="0"/>
                <a:cs typeface="Arial" panose="020B0604020202020204" pitchFamily="34" charset="0"/>
              </a:rPr>
              <a:t>MongoDB</a:t>
            </a:r>
            <a:endParaRPr lang="fr-FR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4"/>
          </p:nvPr>
        </p:nvSpPr>
        <p:spPr>
          <a:xfrm>
            <a:off x="6310437" y="1701800"/>
            <a:ext cx="5268948" cy="4470400"/>
          </a:xfrm>
        </p:spPr>
        <p:txBody>
          <a:bodyPr rtlCol="0"/>
          <a:lstStyle/>
          <a:p>
            <a:pPr mar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FR" sz="22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{</a:t>
            </a:r>
          </a:p>
          <a:p>
            <a:pPr mar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FR" sz="22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 user: "</a:t>
            </a:r>
            <a:r>
              <a:rPr lang="fr-FR" sz="2200" dirty="0" err="1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appuser</a:t>
            </a:r>
            <a:r>
              <a:rPr lang="fr-FR" sz="22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",</a:t>
            </a:r>
          </a:p>
          <a:p>
            <a:pPr mar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FR" sz="22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 </a:t>
            </a:r>
            <a:r>
              <a:rPr lang="fr-FR" sz="2200" dirty="0" err="1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pwd</a:t>
            </a:r>
            <a:r>
              <a:rPr lang="fr-FR" sz="22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: "*****",</a:t>
            </a:r>
          </a:p>
          <a:p>
            <a:pPr mar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FR" sz="22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 </a:t>
            </a:r>
            <a:r>
              <a:rPr lang="fr-FR" sz="2200" dirty="0" err="1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roles</a:t>
            </a:r>
            <a:r>
              <a:rPr lang="fr-FR" sz="22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: [{ </a:t>
            </a:r>
            <a:r>
              <a:rPr lang="fr-FR" sz="2200" dirty="0" err="1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role</a:t>
            </a:r>
            <a:r>
              <a:rPr lang="fr-FR" sz="22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: "</a:t>
            </a:r>
            <a:r>
              <a:rPr lang="fr-FR" sz="2200" dirty="0" err="1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readWrite</a:t>
            </a:r>
            <a:r>
              <a:rPr lang="fr-FR" sz="22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", </a:t>
            </a:r>
            <a:r>
              <a:rPr lang="fr-FR" sz="2200" dirty="0" err="1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db</a:t>
            </a:r>
            <a:r>
              <a:rPr lang="fr-FR" sz="22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: "</a:t>
            </a:r>
            <a:r>
              <a:rPr lang="fr-FR" sz="2200" dirty="0" err="1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donnees_medicales</a:t>
            </a:r>
            <a:r>
              <a:rPr lang="fr-FR" sz="22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" }]</a:t>
            </a:r>
          </a:p>
          <a:p>
            <a:pPr mar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FR" sz="2200" dirty="0" smtClean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}</a:t>
            </a:r>
          </a:p>
          <a:p>
            <a:pPr mar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fr-FR" sz="2200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fr-FR" altLang="fr-FR" sz="22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Stockage des secrets dans .</a:t>
            </a:r>
            <a:r>
              <a:rPr lang="fr-FR" altLang="fr-FR" sz="2200" dirty="0" err="1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env</a:t>
            </a:r>
            <a:r>
              <a:rPr lang="fr-FR" altLang="fr-FR" sz="22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(non </a:t>
            </a:r>
            <a:r>
              <a:rPr lang="fr-FR" altLang="fr-FR" sz="2200" dirty="0" err="1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versionné</a:t>
            </a:r>
            <a:r>
              <a:rPr lang="fr-FR" altLang="fr-FR" sz="22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)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fr-FR" altLang="fr-FR" sz="22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Connexion sécurisée depuis le </a:t>
            </a:r>
            <a:r>
              <a:rPr lang="fr-FR" altLang="fr-FR" sz="2200" dirty="0" err="1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migrator</a:t>
            </a:r>
            <a:endParaRPr lang="fr-FR" altLang="fr-FR" sz="2200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pPr marL="0" indent="0" rtl="0">
              <a:buNone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Espace réservé du contenu 1"/>
          <p:cNvSpPr>
            <a:spLocks noGrp="1" noChangeArrowheads="1"/>
          </p:cNvSpPr>
          <p:nvPr>
            <p:ph sz="half" idx="2"/>
          </p:nvPr>
        </p:nvSpPr>
        <p:spPr bwMode="auto">
          <a:xfrm>
            <a:off x="1053852" y="1367065"/>
            <a:ext cx="5040561" cy="5139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22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🔐 Pourquoi sécuriser 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22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Données médicales = données sensibles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22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Accès strictement contrôlé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22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Protéger des manipulations non autorisées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22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Respect des bonnes pratiques industrielles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altLang="fr-FR" sz="2200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22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🛡 Mise en place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22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Activation du mode </a:t>
            </a:r>
            <a:r>
              <a:rPr lang="fr-FR" altLang="fr-FR" sz="2200" dirty="0" err="1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auth</a:t>
            </a:r>
            <a:r>
              <a:rPr lang="fr-FR" altLang="fr-FR" sz="22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dans </a:t>
            </a:r>
            <a:r>
              <a:rPr lang="fr-FR" altLang="fr-FR" sz="2200" dirty="0" err="1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MongoDB</a:t>
            </a:r>
            <a:endParaRPr lang="fr-FR" altLang="fr-FR" sz="2200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22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Script d'initialisation : mongo-init.js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22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Création d’un utilisateur applicatif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2039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algn="ctr"/>
            <a:r>
              <a:rPr lang="fr-FR" sz="4800" dirty="0">
                <a:latin typeface="Arial" panose="020B0604020202020204" pitchFamily="34" charset="0"/>
                <a:cs typeface="Arial" panose="020B0604020202020204" pitchFamily="34" charset="0"/>
              </a:rPr>
              <a:t>Validation &amp; Tests unitaires</a:t>
            </a:r>
            <a:endParaRPr lang="fr-FR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1413892" y="1498600"/>
            <a:ext cx="936104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✔ Tests implémentés :</a:t>
            </a:r>
          </a:p>
          <a:p>
            <a:r>
              <a:rPr lang="fr-FR" b="1" dirty="0" err="1">
                <a:latin typeface="Arial" panose="020B0604020202020204" pitchFamily="34" charset="0"/>
                <a:cs typeface="Arial" panose="020B0604020202020204" pitchFamily="34" charset="0"/>
              </a:rPr>
              <a:t>validate_headers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→ colonne manquante détectée</a:t>
            </a:r>
          </a:p>
          <a:p>
            <a:r>
              <a:rPr lang="fr-FR" b="1" dirty="0" err="1">
                <a:latin typeface="Arial" panose="020B0604020202020204" pitchFamily="34" charset="0"/>
                <a:cs typeface="Arial" panose="020B0604020202020204" pitchFamily="34" charset="0"/>
              </a:rPr>
              <a:t>validate_content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→ contrôle des champs obligatoires</a:t>
            </a:r>
          </a:p>
          <a:p>
            <a:r>
              <a:rPr lang="fr-FR" b="1" dirty="0" err="1">
                <a:latin typeface="Arial" panose="020B0604020202020204" pitchFamily="34" charset="0"/>
                <a:cs typeface="Arial" panose="020B0604020202020204" pitchFamily="34" charset="0"/>
              </a:rPr>
              <a:t>format_row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→ nettoyage,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trim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, cohérence</a:t>
            </a:r>
          </a:p>
          <a:p>
            <a:r>
              <a:rPr lang="fr-FR" b="1" dirty="0" err="1">
                <a:latin typeface="Arial" panose="020B0604020202020204" pitchFamily="34" charset="0"/>
                <a:cs typeface="Arial" panose="020B0604020202020204" pitchFamily="34" charset="0"/>
              </a:rPr>
              <a:t>make_batches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→ vérification du batch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splitting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Cas d’erreurs gérés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(valeurs manquantes, structure incorrecte)</a:t>
            </a:r>
          </a:p>
          <a:p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🎯 Objectifs :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Assurer la qualité de la donnée avant insertion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Détecter les erreurs silencieuses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Pipeline fiable et reproductible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Comportement maîtrisé avant ingestion réelle</a:t>
            </a:r>
          </a:p>
        </p:txBody>
      </p:sp>
    </p:spTree>
    <p:extLst>
      <p:ext uri="{BB962C8B-B14F-4D97-AF65-F5344CB8AC3E}">
        <p14:creationId xmlns:p14="http://schemas.microsoft.com/office/powerpoint/2010/main" val="397710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269876" y="692696"/>
            <a:ext cx="10513168" cy="86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dirty="0">
                <a:latin typeface="Arial" panose="020B0604020202020204" pitchFamily="34" charset="0"/>
                <a:cs typeface="Arial" panose="020B0604020202020204" pitchFamily="34" charset="0"/>
              </a:rPr>
              <a:t>Justification des choix techniques</a:t>
            </a:r>
            <a:endParaRPr lang="fr-FR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1197868" y="1530483"/>
            <a:ext cx="993710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MongoDB</a:t>
            </a:r>
            <a:endParaRPr lang="fr-F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Adapté aux données semi-structurées</a:t>
            </a:r>
          </a:p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Performant pour les insertions en masse</a:t>
            </a:r>
          </a:p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Flexible, modèle JSON naturel</a:t>
            </a:r>
          </a:p>
          <a:p>
            <a:r>
              <a:rPr lang="fr-FR" sz="2000" b="1" dirty="0">
                <a:latin typeface="Arial" panose="020B0604020202020204" pitchFamily="34" charset="0"/>
                <a:cs typeface="Arial" panose="020B0604020202020204" pitchFamily="34" charset="0"/>
              </a:rPr>
              <a:t>🐳 Docker</a:t>
            </a:r>
          </a:p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Isolation des services</a:t>
            </a:r>
          </a:p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Environnements identiques pour tous</a:t>
            </a:r>
          </a:p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Déploiement reproductible en 1 commande</a:t>
            </a:r>
          </a:p>
          <a:p>
            <a:r>
              <a:rPr lang="fr-FR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Pytest</a:t>
            </a:r>
            <a:endParaRPr lang="fr-F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Validation systématique du pipeline</a:t>
            </a:r>
          </a:p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Facile à maintenir &amp; étendre</a:t>
            </a:r>
          </a:p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Professionnalisation de la solution</a:t>
            </a:r>
          </a:p>
          <a:p>
            <a:r>
              <a:rPr lang="fr-FR" sz="2000" b="1" dirty="0">
                <a:latin typeface="Arial" panose="020B0604020202020204" pitchFamily="34" charset="0"/>
                <a:cs typeface="Arial" panose="020B0604020202020204" pitchFamily="34" charset="0"/>
              </a:rPr>
              <a:t>📦 Volumes Docker</a:t>
            </a:r>
          </a:p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Persistance des données</a:t>
            </a:r>
          </a:p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Séparation logique des sources et de la base</a:t>
            </a:r>
          </a:p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Migration sans risque de perte</a:t>
            </a:r>
          </a:p>
        </p:txBody>
      </p:sp>
    </p:spTree>
    <p:extLst>
      <p:ext uri="{BB962C8B-B14F-4D97-AF65-F5344CB8AC3E}">
        <p14:creationId xmlns:p14="http://schemas.microsoft.com/office/powerpoint/2010/main" val="1405850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 1"/>
          <p:cNvSpPr>
            <a:spLocks noGrp="1"/>
          </p:cNvSpPr>
          <p:nvPr>
            <p:ph type="title"/>
          </p:nvPr>
        </p:nvSpPr>
        <p:spPr>
          <a:xfrm>
            <a:off x="1218882" y="116632"/>
            <a:ext cx="9772074" cy="1224136"/>
          </a:xfrm>
        </p:spPr>
        <p:txBody>
          <a:bodyPr rtlCol="0">
            <a:normAutofit/>
          </a:bodyPr>
          <a:lstStyle/>
          <a:p>
            <a:pPr algn="ctr"/>
            <a:r>
              <a:rPr lang="fr-FR" sz="4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Résultats obtenus</a:t>
            </a:r>
            <a:endParaRPr lang="fr-FR" sz="4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218882" y="1340768"/>
            <a:ext cx="10276130" cy="4831432"/>
          </a:xfrm>
        </p:spPr>
        <p:txBody>
          <a:bodyPr rtlCol="0">
            <a:normAutofit fontScale="92500" lnSpcReduction="20000"/>
          </a:bodyPr>
          <a:lstStyle/>
          <a:p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</a:rPr>
              <a:t>✔ Ce qui fonctionne :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Migration </a:t>
            </a:r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</a:rPr>
              <a:t>100 % automatisée</a:t>
            </a: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Structure testée et robuste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Authentification </a:t>
            </a:r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</a:rPr>
              <a:t>active et fonctionnelle</a:t>
            </a: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Pipeline </a:t>
            </a:r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</a:rPr>
              <a:t>qualifié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(tests unitaires verts)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Documentation technique complète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Architecture propre, maintenable et professionnelle</a:t>
            </a:r>
          </a:p>
          <a:p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</a:rPr>
              <a:t>🚀 Valeur ajoutée :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Solution réutilisable pour toute future ingestion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Cohérence des données garantie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Système aligné avec les standards Data Engineering</a:t>
            </a:r>
          </a:p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19046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1218882" y="188640"/>
            <a:ext cx="8259906" cy="1368152"/>
          </a:xfrm>
        </p:spPr>
        <p:txBody>
          <a:bodyPr rtlCol="0"/>
          <a:lstStyle/>
          <a:p>
            <a:pPr algn="ctr"/>
            <a:r>
              <a:rPr lang="fr-FR" sz="4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fr-FR" sz="4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half" idx="2"/>
          </p:nvPr>
        </p:nvSpPr>
        <p:spPr>
          <a:xfrm>
            <a:off x="1218882" y="1556792"/>
            <a:ext cx="10276130" cy="4615408"/>
          </a:xfrm>
        </p:spPr>
        <p:txBody>
          <a:bodyPr rtlCol="0">
            <a:normAutofit fontScale="92500" lnSpcReduction="20000"/>
          </a:bodyPr>
          <a:lstStyle/>
          <a:p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</a:rPr>
              <a:t>🔍 Ce projet a permis de :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Construire une architecture fiable &amp; sécurisée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Mettre en place un pipeline ETL complet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Industrialiser la migration des données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Professionnaliser le workflow (tests + documentation)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Appliquer Docker,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MongoDB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, Python et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Pytest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de manière cohérente</a:t>
            </a:r>
          </a:p>
          <a:p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</a:rPr>
              <a:t>🌱 Axes d’évolution :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Ajout CI/CD (tests automatiques)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Monitoring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MongoDB</a:t>
            </a: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Dashboard qualité des données</a:t>
            </a:r>
          </a:p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80339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nologie 16: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9533257_TF02787990_TF02787990.potx" id="{ABCB071B-19A3-44BE-B302-F4BBE7E3E2D5}" vid="{F4600F28-01B2-4FC5-9857-5FFF9F08051B}"/>
    </a:ext>
  </a:extLst>
</a:theme>
</file>

<file path=ppt/theme/theme2.xml><?xml version="1.0" encoding="utf-8"?>
<a:theme xmlns:a="http://schemas.openxmlformats.org/drawingml/2006/main" name="Thème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Présentation Circuit à trois lignes (grand écran)</Template>
  <TotalTime>106</TotalTime>
  <Words>445</Words>
  <Application>Microsoft Office PowerPoint</Application>
  <PresentationFormat>Personnalisé</PresentationFormat>
  <Paragraphs>97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2" baseType="lpstr">
      <vt:lpstr>Arial</vt:lpstr>
      <vt:lpstr>Calibri</vt:lpstr>
      <vt:lpstr>Technologie 16:9</vt:lpstr>
      <vt:lpstr>Systèmes de stockage des données sécurisé et performant Migration et sécurisation d’une base de données MongoDB via Docker</vt:lpstr>
      <vt:lpstr>Contexte de la mission</vt:lpstr>
      <vt:lpstr>Architecture globale</vt:lpstr>
      <vt:lpstr>Déroulement technique (workflow)</vt:lpstr>
      <vt:lpstr>Sécurité : authentification MongoDB</vt:lpstr>
      <vt:lpstr>Validation &amp; Tests unitaires</vt:lpstr>
      <vt:lpstr>Présentation PowerPoint</vt:lpstr>
      <vt:lpstr>Résultats obtenus</vt:lpstr>
      <vt:lpstr>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Systèmes de stockage des données sécurisé et performant Migration et sécurisation d’une base de données MongoDB via Docker</dc:title>
  <dc:creator>Fatima THIAM GUEYE</dc:creator>
  <cp:lastModifiedBy>Fatima THIAM GUEYE</cp:lastModifiedBy>
  <cp:revision>8</cp:revision>
  <dcterms:created xsi:type="dcterms:W3CDTF">2025-11-18T15:12:46Z</dcterms:created>
  <dcterms:modified xsi:type="dcterms:W3CDTF">2025-11-18T16:59:04Z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